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572000" cy="4572000"/>
          </a:xfrm>
          <a:prstGeom prst="ellipse">
            <a:avLst/>
          </a:prstGeom>
          <a:solidFill>
            <a:srgbClr val="69A297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50808E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PROBLEM AND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Kenya's Stunting Problem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8872" cy="118872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undernutrition leaves many Kenyan children too short for their age — a condition called stunting — with lasting effects on immunity and cognitive development.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8872" cy="118872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44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affects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21868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five, especially in rural and harder-to-reach counties where health services and survey coverage are thinnest.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8872" cy="118872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99592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27024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workers can't manually screen every household's full survey record, so at-risk children are easy to miss without a fast, data-driven way to flag them.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60920" y="196596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17302B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1762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FROM THE 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35240" y="24688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635240" y="33649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five in Kenya is stunted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3950208"/>
            <a:ext cx="3703320" cy="0"/>
          </a:xfrm>
          <a:prstGeom prst="line">
            <a:avLst/>
          </a:prstGeom>
          <a:noFill/>
          <a:ln w="12700">
            <a:solidFill>
              <a:srgbClr val="355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114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35240" y="457200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in our held-out test set were moderately or severely stunted — confirming the national picture in our own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Childhood Stunting in Kenya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7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F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 DHS 2022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F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Children's Recode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17,327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40156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 model-ready dataset, after cleaning 19,530 raw survey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34015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 region, wealth, water &amp; sanitation, maternal &amp; birth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4846320" cy="0"/>
          </a:xfrm>
          <a:prstGeom prst="line">
            <a:avLst/>
          </a:prstGeom>
          <a:noFill/>
          <a:ln w="12700">
            <a:solidFill>
              <a:srgbClr val="DC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26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280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stunting severity (severe / moderate / normal), from WHO height-for-age z-score thresholds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DHS Program — requires research authorization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F3B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Ensemble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2395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Random Forest + Gradient Boosting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 stunting risk depends on non-linear interactions between wealth, water access, and maternal health that tree-based models capture well, while the linear logistic layer adds a calibrated, stable signal — the combination outperformed every individual model on cross-validated ROC-AUC.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526280"/>
            <a:ext cx="4846320" cy="0"/>
          </a:xfrm>
          <a:prstGeom prst="line">
            <a:avLst/>
          </a:prstGeom>
          <a:noFill/>
          <a:ln w="12700">
            <a:solidFill>
              <a:srgbClr val="355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COMPARISON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501091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class-weighted logistic regression trained on the same features was used as the baseline, giving a simple, interpretable point of comparison for the ensemble.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Childhood Stunting in Kenya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METRICS, VS. BASELINE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 (primary)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11880" y="176479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(Log. Reg.)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07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(secondary)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0998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2788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83480" y="282549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(Log. Reg.)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31729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DISAGGREGATED EVALUATION (BY RESIDENCE TYPE)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669280" cy="173736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5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region: Kirinyaga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5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5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5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080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region: Trans Nzoia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80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80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80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59436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47-region breakdown is in notebooks/04_evaluation.ipynb — 9 regions fall over 0.10 ROC-AUC below the overall figure (0.709).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INFORMATIVE PLOT: PER-CLASS F1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18120" y="2194560"/>
            <a:ext cx="0" cy="3703320"/>
          </a:xfrm>
          <a:prstGeom prst="line">
            <a:avLst/>
          </a:prstGeom>
          <a:noFill/>
          <a:ln w="12700">
            <a:solidFill>
              <a:srgbClr val="D8E2D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98230" y="2194560"/>
            <a:ext cx="0" cy="3703320"/>
          </a:xfrm>
          <a:prstGeom prst="line">
            <a:avLst/>
          </a:prstGeom>
          <a:noFill/>
          <a:ln w="12700">
            <a:solidFill>
              <a:srgbClr val="EEF2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78340" y="2194560"/>
            <a:ext cx="0" cy="3703320"/>
          </a:xfrm>
          <a:prstGeom prst="line">
            <a:avLst/>
          </a:prstGeom>
          <a:noFill/>
          <a:ln w="12700">
            <a:solidFill>
              <a:srgbClr val="EEF2F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58450" y="2194560"/>
            <a:ext cx="0" cy="3703320"/>
          </a:xfrm>
          <a:prstGeom prst="line">
            <a:avLst/>
          </a:prstGeom>
          <a:noFill/>
          <a:ln w="12700">
            <a:solidFill>
              <a:srgbClr val="EEF2F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338560" y="2194560"/>
            <a:ext cx="0" cy="3703320"/>
          </a:xfrm>
          <a:prstGeom prst="line">
            <a:avLst/>
          </a:prstGeom>
          <a:noFill/>
          <a:ln w="12700">
            <a:solidFill>
              <a:srgbClr val="EEF2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growth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92240" y="2551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2,836 actual cases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818120" y="2331720"/>
            <a:ext cx="3168396" cy="384048"/>
          </a:xfrm>
          <a:prstGeom prst="roundRect">
            <a:avLst>
              <a:gd name="adj" fmla="val 9524"/>
            </a:avLst>
          </a:prstGeom>
          <a:solidFill>
            <a:srgbClr val="84B59F"/>
          </a:solidFill>
          <a:ln/>
        </p:spPr>
      </p:sp>
      <p:sp>
        <p:nvSpPr>
          <p:cNvPr id="30" name="Text 27"/>
          <p:cNvSpPr/>
          <p:nvPr/>
        </p:nvSpPr>
        <p:spPr>
          <a:xfrm>
            <a:off x="11077956" y="23134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92240" y="3383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stunting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492240" y="3694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478 actual cases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818120" y="3474720"/>
            <a:ext cx="164592" cy="384048"/>
          </a:xfrm>
          <a:prstGeom prst="roundRect">
            <a:avLst>
              <a:gd name="adj" fmla="val 22222"/>
            </a:avLst>
          </a:prstGeom>
          <a:solidFill>
            <a:srgbClr val="D9A441"/>
          </a:solidFill>
          <a:ln/>
        </p:spPr>
      </p:sp>
      <p:sp>
        <p:nvSpPr>
          <p:cNvPr id="34" name="Text 31"/>
          <p:cNvSpPr/>
          <p:nvPr/>
        </p:nvSpPr>
        <p:spPr>
          <a:xfrm>
            <a:off x="8074152" y="34564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92240" y="4526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stunting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92240" y="4837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152 actual cases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35824" y="4718304"/>
            <a:ext cx="182880" cy="182880"/>
          </a:xfrm>
          <a:prstGeom prst="ellipse">
            <a:avLst/>
          </a:prstGeom>
          <a:solidFill>
            <a:srgbClr val="C057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01000" y="459943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0.00 — 0 of 152 real cases caught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589520" y="5806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349740" y="5806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1109960" y="5806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92240" y="6172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children in the test set actually had severe stunting — the model's precision and recall on that class were both 0.00, meaning it caught none of them.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Childhood Stunting in Kenya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43000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Responsible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17302B"/>
          </a:solidFill>
          <a:ln w="12700">
            <a:solidFill>
              <a:srgbClr val="2E4E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1115568"/>
          </a:xfrm>
          <a:prstGeom prst="rect">
            <a:avLst/>
          </a:prstGeom>
          <a:solidFill>
            <a:srgbClr val="C057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81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cannot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reliably detect severe or moderate stunting in an individual child — its near-perfect score on “normal growth” comes largely from the class imbalance in the data, not genuine skill at spotting risk.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17302B"/>
          </a:solidFill>
          <a:ln w="12700">
            <a:solidFill>
              <a:srgbClr val="2E4E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15184"/>
            <a:ext cx="73152" cy="111556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72491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might be harmed by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035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“normal” prediction could mean a truly stunted child is missed by a screening program relying on this tool — harm falls hardest on children in regions where the model is least accurate, which are often already underserved.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17302B"/>
          </a:solidFill>
          <a:ln w="12700">
            <a:solidFill>
              <a:srgbClr val="2E4E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58768"/>
            <a:ext cx="73152" cy="111556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9684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criterion applied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42793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parity across subgroups: we measured macro F1 and ROC-AUC separately by residence type and by region, rather than assuming one national accuracy figure applies everywhere.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69A297">
              <a:alpha val="1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39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LIMITATION — AND WHAT WOULD FIX 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5046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is the single biggest limitation — fixing it needs targeted oversampling of stunted cases (e.g. SMOTE) or cost-sensitive training, not a different model architecture.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Childhood Stunting in Kenya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7F6"/>
          </a:solidFill>
          <a:ln w="19050">
            <a:solidFill>
              <a:srgbClr val="84B5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good at recognizing healthy growth, but it cannot yet be trusted to flag which specific children are at risk of stunting.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7F6"/>
          </a:solidFill>
          <a:ln w="1905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86207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works depends heavily on where a child lives — it performs far worse in several counties than the national average suggests, including some of the areas that likely need it most.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7F6"/>
          </a:solidFill>
          <a:ln w="1905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00507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more complex ensemble barely improved results over a much simpler baseline, which says the real bottleneck is the imbalanced data, not the choice of algorithm.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F3B3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spc="5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STEP, IF THIS PROJECT HAD A PHASE TWO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for a responsible pilot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06324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targeted resampling technique (e.g. SMOTE) to correct the class imbalance, then pilot the tool with a county health office or an NGO such as UNICEF Kenya — as a screening aid used alongside clinical judgment, not a stand-alone diagnosis, and with performance monitored by region before any wider rollout.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5394960"/>
            <a:ext cx="4754880" cy="0"/>
          </a:xfrm>
          <a:prstGeom prst="line">
            <a:avLst/>
          </a:prstGeom>
          <a:noFill/>
          <a:ln w="12700">
            <a:solidFill>
              <a:srgbClr val="355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5577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a human decision-maker in the loop while the model's regional and class-imbalance gaps are addressed.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Childhood Stunting in Kenya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2026-08-12T02:30:23Z</dcterms:created>
  <dcterms:modified xsi:type="dcterms:W3CDTF">2026-08-12T02:30:23Z</dcterms:modified>
</cp:coreProperties>
</file>